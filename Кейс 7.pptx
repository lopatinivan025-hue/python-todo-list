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9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14" autoAdjust="0"/>
    <p:restoredTop sz="94660"/>
  </p:normalViewPr>
  <p:slideViewPr>
    <p:cSldViewPr snapToGrid="0">
      <p:cViewPr>
        <p:scale>
          <a:sx n="125" d="100"/>
          <a:sy n="125" d="100"/>
        </p:scale>
        <p:origin x="90" y="-1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/>
          <p:cNvSpPr/>
          <p:nvPr/>
        </p:nvSpPr>
        <p:spPr bwMode="auto">
          <a:xfrm>
            <a:off x="0" y="-3175"/>
            <a:ext cx="12192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5760" y="0"/>
                </a:moveTo>
                <a:lnTo>
                  <a:pt x="0" y="0"/>
                </a:lnTo>
                <a:lnTo>
                  <a:pt x="0" y="3090"/>
                </a:lnTo>
                <a:lnTo>
                  <a:pt x="943" y="3090"/>
                </a:lnTo>
                <a:lnTo>
                  <a:pt x="1123" y="3270"/>
                </a:lnTo>
                <a:lnTo>
                  <a:pt x="1123" y="3270"/>
                </a:lnTo>
                <a:lnTo>
                  <a:pt x="1127" y="3272"/>
                </a:lnTo>
                <a:lnTo>
                  <a:pt x="1133" y="3275"/>
                </a:lnTo>
                <a:lnTo>
                  <a:pt x="1139" y="3278"/>
                </a:lnTo>
                <a:lnTo>
                  <a:pt x="1144" y="3278"/>
                </a:lnTo>
                <a:lnTo>
                  <a:pt x="1150" y="3278"/>
                </a:lnTo>
                <a:lnTo>
                  <a:pt x="1155" y="3275"/>
                </a:lnTo>
                <a:lnTo>
                  <a:pt x="1161" y="3272"/>
                </a:lnTo>
                <a:lnTo>
                  <a:pt x="1165" y="3270"/>
                </a:lnTo>
                <a:lnTo>
                  <a:pt x="1345" y="3090"/>
                </a:lnTo>
                <a:lnTo>
                  <a:pt x="5760" y="3090"/>
                </a:lnTo>
                <a:lnTo>
                  <a:pt x="5760" y="0"/>
                </a:lnTo>
                <a:close/>
              </a:path>
            </a:pathLst>
          </a:custGeom>
          <a:ln/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10001" y="1449147"/>
            <a:ext cx="10572000" cy="2971051"/>
          </a:xfrm>
        </p:spPr>
        <p:txBody>
          <a:bodyPr/>
          <a:lstStyle>
            <a:lvl1pPr>
              <a:defRPr sz="5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10001" y="5280847"/>
            <a:ext cx="10572000" cy="434974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37B603-8BE3-431C-A19E-C03EB1522428}" type="datetimeFigureOut">
              <a:rPr lang="ru-RU" smtClean="0"/>
              <a:t>23.07.2026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72DB0A-8BAF-4A3B-BDC6-A2A667FA914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487764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8712" y="2222287"/>
            <a:ext cx="10554574" cy="3636511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37B603-8BE3-431C-A19E-C03EB1522428}" type="datetimeFigureOut">
              <a:rPr lang="ru-RU" smtClean="0"/>
              <a:t>23.07.2026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72DB0A-8BAF-4A3B-BDC6-A2A667FA914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545545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7"/>
          <p:cNvSpPr/>
          <p:nvPr/>
        </p:nvSpPr>
        <p:spPr bwMode="auto">
          <a:xfrm>
            <a:off x="0" y="1"/>
            <a:ext cx="12192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0" y="0"/>
                </a:moveTo>
                <a:lnTo>
                  <a:pt x="5760" y="0"/>
                </a:lnTo>
                <a:lnTo>
                  <a:pt x="5760" y="3090"/>
                </a:lnTo>
                <a:lnTo>
                  <a:pt x="4817" y="3090"/>
                </a:lnTo>
                <a:lnTo>
                  <a:pt x="4637" y="3270"/>
                </a:lnTo>
                <a:lnTo>
                  <a:pt x="4637" y="3270"/>
                </a:lnTo>
                <a:lnTo>
                  <a:pt x="4633" y="3272"/>
                </a:lnTo>
                <a:lnTo>
                  <a:pt x="4627" y="3275"/>
                </a:lnTo>
                <a:lnTo>
                  <a:pt x="4621" y="3278"/>
                </a:lnTo>
                <a:lnTo>
                  <a:pt x="4616" y="3278"/>
                </a:lnTo>
                <a:lnTo>
                  <a:pt x="4610" y="3278"/>
                </a:lnTo>
                <a:lnTo>
                  <a:pt x="4605" y="3275"/>
                </a:lnTo>
                <a:lnTo>
                  <a:pt x="4599" y="3272"/>
                </a:lnTo>
                <a:lnTo>
                  <a:pt x="4595" y="3270"/>
                </a:lnTo>
                <a:lnTo>
                  <a:pt x="4415" y="3090"/>
                </a:lnTo>
                <a:lnTo>
                  <a:pt x="0" y="309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ln>
            <a:headEnd/>
            <a:tailE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2951396"/>
            <a:ext cx="10561418" cy="1468800"/>
          </a:xfrm>
        </p:spPr>
        <p:txBody>
          <a:bodyPr anchor="b"/>
          <a:lstStyle>
            <a:lvl1pPr algn="r">
              <a:defRPr sz="4800" b="1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0000" y="5281201"/>
            <a:ext cx="10561418" cy="433955"/>
          </a:xfrm>
        </p:spPr>
        <p:txBody>
          <a:bodyPr anchor="t">
            <a:no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37B603-8BE3-431C-A19E-C03EB1522428}" type="datetimeFigureOut">
              <a:rPr lang="ru-RU" smtClean="0"/>
              <a:t>23.07.2026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72DB0A-8BAF-4A3B-BDC6-A2A667FA914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868543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18712" y="2222287"/>
            <a:ext cx="5185873" cy="3638763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7415" y="2222287"/>
            <a:ext cx="5194583" cy="3638764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37B603-8BE3-431C-A19E-C03EB1522428}" type="datetimeFigureOut">
              <a:rPr lang="ru-RU" smtClean="0"/>
              <a:t>23.07.2026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72DB0A-8BAF-4A3B-BDC6-A2A667FA914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465731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4728" y="2174875"/>
            <a:ext cx="5189857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14729" y="2751138"/>
            <a:ext cx="5189856" cy="3109913"/>
          </a:xfrm>
        </p:spPr>
        <p:txBody>
          <a:bodyPr anchor="t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7415" y="2174875"/>
            <a:ext cx="5194583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7415" y="2751138"/>
            <a:ext cx="5194583" cy="3109913"/>
          </a:xfrm>
        </p:spPr>
        <p:txBody>
          <a:bodyPr anchor="t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37B603-8BE3-431C-A19E-C03EB1522428}" type="datetimeFigureOut">
              <a:rPr lang="ru-RU" smtClean="0"/>
              <a:t>23.07.2026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72DB0A-8BAF-4A3B-BDC6-A2A667FA914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185950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37B603-8BE3-431C-A19E-C03EB1522428}" type="datetimeFigureOut">
              <a:rPr lang="ru-RU" smtClean="0"/>
              <a:t>23.07.2026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72DB0A-8BAF-4A3B-BDC6-A2A667FA914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058051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37B603-8BE3-431C-A19E-C03EB1522428}" type="datetimeFigureOut">
              <a:rPr lang="ru-RU" smtClean="0"/>
              <a:t>23.07.2026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72DB0A-8BAF-4A3B-BDC6-A2A667FA914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322994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6"/>
          <p:cNvSpPr>
            <a:spLocks noChangeAspect="1"/>
          </p:cNvSpPr>
          <p:nvPr/>
        </p:nvSpPr>
        <p:spPr bwMode="auto">
          <a:xfrm>
            <a:off x="1073151" y="446087"/>
            <a:ext cx="3547533" cy="1814651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3151" y="446088"/>
            <a:ext cx="3547533" cy="1618396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446088"/>
            <a:ext cx="6252633" cy="5414963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73151" y="2260738"/>
            <a:ext cx="3547533" cy="360031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37B603-8BE3-431C-A19E-C03EB1522428}" type="datetimeFigureOut">
              <a:rPr lang="ru-RU" smtClean="0"/>
              <a:t>23.07.2026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72DB0A-8BAF-4A3B-BDC6-A2A667FA914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423354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4728" y="727522"/>
            <a:ext cx="4852988" cy="1617163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9" name="Picture Placeholder 11"/>
          <p:cNvSpPr>
            <a:spLocks noGrp="1" noChangeAspect="1"/>
          </p:cNvSpPr>
          <p:nvPr>
            <p:ph type="pic" sz="quarter" idx="13"/>
          </p:nvPr>
        </p:nvSpPr>
        <p:spPr bwMode="auto">
          <a:xfrm>
            <a:off x="6098117" y="0"/>
            <a:ext cx="6093883" cy="6858000"/>
          </a:xfrm>
          <a:custGeom>
            <a:avLst/>
            <a:gdLst/>
            <a:ahLst/>
            <a:cxnLst/>
            <a:rect l="0" t="0" r="r" b="b"/>
            <a:pathLst>
              <a:path w="2879" h="4320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  <a:noFill/>
          <a:ln w="9525">
            <a:solidFill>
              <a:schemeClr val="tx2"/>
            </a:solidFill>
            <a:round/>
            <a:headEnd/>
            <a:tailEnd/>
          </a:ln>
          <a:effectLst/>
        </p:spPr>
        <p:txBody>
          <a:bodyPr wrap="square" numCol="1" anchor="t" anchorCtr="0" compatLnSpc="1">
            <a:prstTxWarp prst="textNoShape">
              <a:avLst/>
            </a:prstTxWarp>
            <a:normAutofit/>
          </a:bodyPr>
          <a:lstStyle>
            <a:lvl1pPr algn="ctr">
              <a:buFontTx/>
              <a:buNone/>
              <a:defRPr sz="1400"/>
            </a:lvl1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4728" y="2344684"/>
            <a:ext cx="4852988" cy="3516365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885810" y="6041362"/>
            <a:ext cx="976879" cy="365125"/>
          </a:xfrm>
        </p:spPr>
        <p:txBody>
          <a:bodyPr/>
          <a:lstStyle/>
          <a:p>
            <a:fld id="{BC37B603-8BE3-431C-A19E-C03EB1522428}" type="datetimeFigureOut">
              <a:rPr lang="ru-RU" smtClean="0"/>
              <a:t>23.07.2026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90396" y="6041362"/>
            <a:ext cx="3295413" cy="365125"/>
          </a:xfrm>
        </p:spPr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4862689" y="5915888"/>
            <a:ext cx="1062155" cy="490599"/>
          </a:xfrm>
        </p:spPr>
        <p:txBody>
          <a:bodyPr/>
          <a:lstStyle/>
          <a:p>
            <a:fld id="{E372DB0A-8BAF-4A3B-BDC6-A2A667FA914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436216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анорамная фотография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4800600"/>
            <a:ext cx="10561418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5" name="Picture Placeholder 14"/>
          <p:cNvSpPr>
            <a:spLocks noGrp="1" noChangeAspect="1"/>
          </p:cNvSpPr>
          <p:nvPr>
            <p:ph type="pic" sz="quarter" idx="13"/>
          </p:nvPr>
        </p:nvSpPr>
        <p:spPr bwMode="auto">
          <a:xfrm>
            <a:off x="0" y="0"/>
            <a:ext cx="12192000" cy="4800600"/>
          </a:xfrm>
          <a:custGeom>
            <a:avLst/>
            <a:gdLst/>
            <a:ahLst/>
            <a:cxnLst/>
            <a:rect l="0" t="0" r="r" b="b"/>
            <a:pathLst>
              <a:path w="5760" h="3289">
                <a:moveTo>
                  <a:pt x="5760" y="0"/>
                </a:moveTo>
                <a:lnTo>
                  <a:pt x="0" y="0"/>
                </a:lnTo>
                <a:lnTo>
                  <a:pt x="0" y="3100"/>
                </a:lnTo>
                <a:lnTo>
                  <a:pt x="943" y="3100"/>
                </a:lnTo>
                <a:lnTo>
                  <a:pt x="1123" y="3281"/>
                </a:lnTo>
                <a:lnTo>
                  <a:pt x="1123" y="3281"/>
                </a:lnTo>
                <a:lnTo>
                  <a:pt x="1127" y="3283"/>
                </a:lnTo>
                <a:lnTo>
                  <a:pt x="1133" y="3286"/>
                </a:lnTo>
                <a:lnTo>
                  <a:pt x="1139" y="3289"/>
                </a:lnTo>
                <a:lnTo>
                  <a:pt x="1144" y="3289"/>
                </a:lnTo>
                <a:lnTo>
                  <a:pt x="1150" y="3289"/>
                </a:lnTo>
                <a:lnTo>
                  <a:pt x="1155" y="3286"/>
                </a:lnTo>
                <a:lnTo>
                  <a:pt x="1161" y="3283"/>
                </a:lnTo>
                <a:lnTo>
                  <a:pt x="1165" y="3281"/>
                </a:lnTo>
                <a:lnTo>
                  <a:pt x="1345" y="3100"/>
                </a:lnTo>
                <a:lnTo>
                  <a:pt x="5760" y="3100"/>
                </a:lnTo>
                <a:lnTo>
                  <a:pt x="5760" y="0"/>
                </a:lnTo>
                <a:close/>
              </a:path>
            </a:pathLst>
          </a:custGeom>
          <a:noFill/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numCol="1" anchor="t" anchorCtr="0" compatLnSpc="1">
            <a:prstTxWarp prst="textNoShape">
              <a:avLst/>
            </a:prstTxWarp>
            <a:normAutofit/>
          </a:bodyPr>
          <a:lstStyle>
            <a:lvl1pPr marL="0" indent="0" algn="ctr">
              <a:buFontTx/>
              <a:buNone/>
              <a:defRPr sz="1600"/>
            </a:lvl1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0000" y="5367338"/>
            <a:ext cx="10561418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37B603-8BE3-431C-A19E-C03EB1522428}" type="datetimeFigureOut">
              <a:rPr lang="ru-RU" smtClean="0"/>
              <a:t>23.07.2026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72DB0A-8BAF-4A3B-BDC6-A2A667FA914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704004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/>
          <p:cNvSpPr>
            <a:spLocks noChangeAspect="1"/>
          </p:cNvSpPr>
          <p:nvPr/>
        </p:nvSpPr>
        <p:spPr bwMode="auto">
          <a:xfrm>
            <a:off x="631697" y="1081456"/>
            <a:ext cx="6332416" cy="3239188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0985" y="1238502"/>
            <a:ext cx="5893840" cy="2645912"/>
          </a:xfrm>
        </p:spPr>
        <p:txBody>
          <a:bodyPr anchor="b"/>
          <a:lstStyle>
            <a:lvl1pPr algn="l">
              <a:defRPr sz="4200" b="1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3190" y="4443680"/>
            <a:ext cx="5891636" cy="713241"/>
          </a:xfrm>
        </p:spPr>
        <p:txBody>
          <a:bodyPr anchor="t">
            <a:no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9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7574642" y="1081456"/>
            <a:ext cx="3810001" cy="4075465"/>
          </a:xfrm>
        </p:spPr>
        <p:txBody>
          <a:bodyPr anchor="t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37B603-8BE3-431C-A19E-C03EB1522428}" type="datetimeFigureOut">
              <a:rPr lang="ru-RU" smtClean="0"/>
              <a:t>23.07.2026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72DB0A-8BAF-4A3B-BDC6-A2A667FA914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5994731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 6"/>
          <p:cNvSpPr>
            <a:spLocks noChangeAspect="1"/>
          </p:cNvSpPr>
          <p:nvPr/>
        </p:nvSpPr>
        <p:spPr bwMode="auto">
          <a:xfrm>
            <a:off x="1140884" y="2286585"/>
            <a:ext cx="4895115" cy="2503972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8" name="Title 1"/>
          <p:cNvSpPr>
            <a:spLocks noGrp="1"/>
          </p:cNvSpPr>
          <p:nvPr>
            <p:ph type="title"/>
          </p:nvPr>
        </p:nvSpPr>
        <p:spPr>
          <a:xfrm>
            <a:off x="1357089" y="2435957"/>
            <a:ext cx="4382521" cy="2007789"/>
          </a:xfrm>
        </p:spPr>
        <p:txBody>
          <a:bodyPr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6156000" y="2286000"/>
            <a:ext cx="4880300" cy="2295525"/>
          </a:xfrm>
        </p:spPr>
        <p:txBody>
          <a:bodyPr anchor="t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37B603-8BE3-431C-A19E-C03EB1522428}" type="datetimeFigureOut">
              <a:rPr lang="ru-RU" smtClean="0"/>
              <a:t>23.07.2026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72DB0A-8BAF-4A3B-BDC6-A2A667FA914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6663694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37B603-8BE3-431C-A19E-C03EB1522428}" type="datetimeFigureOut">
              <a:rPr lang="ru-RU" smtClean="0"/>
              <a:t>23.07.2026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72DB0A-8BAF-4A3B-BDC6-A2A667FA914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3210171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6"/>
          <p:cNvSpPr>
            <a:spLocks noChangeAspect="1"/>
          </p:cNvSpPr>
          <p:nvPr/>
        </p:nvSpPr>
        <p:spPr bwMode="auto">
          <a:xfrm>
            <a:off x="7669651" y="446089"/>
            <a:ext cx="4522349" cy="5414962"/>
          </a:xfrm>
          <a:custGeom>
            <a:avLst/>
            <a:gdLst/>
            <a:ahLst/>
            <a:cxnLst/>
            <a:rect l="0" t="0" r="r" b="b"/>
            <a:pathLst>
              <a:path w="2879" h="4320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183540" y="586171"/>
            <a:ext cx="2494791" cy="513479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0001" y="446089"/>
            <a:ext cx="6611540" cy="5414962"/>
          </a:xfrm>
        </p:spPr>
        <p:txBody>
          <a:bodyPr vert="eaVert" anchor="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37B603-8BE3-431C-A19E-C03EB1522428}" type="datetimeFigureOut">
              <a:rPr lang="ru-RU" smtClean="0"/>
              <a:t>23.07.2026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72DB0A-8BAF-4A3B-BDC6-A2A667FA914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690663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effectLst>
            <a:outerShdw blurRad="50800" dir="14400000">
              <a:srgbClr val="000000">
                <a:alpha val="60000"/>
              </a:srgbClr>
            </a:outerShdw>
          </a:effectLst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0000" y="2184401"/>
            <a:ext cx="10563285" cy="3674397"/>
          </a:xfrm>
          <a:prstGeom prst="rect">
            <a:avLst/>
          </a:prstGeom>
          <a:effectLst>
            <a:outerShdw blurRad="50800" dir="14400000">
              <a:srgbClr val="000000">
                <a:alpha val="40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ru-R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BC37B603-8BE3-431C-A19E-C03EB1522428}" type="datetimeFigureOut">
              <a:rPr lang="ru-RU" smtClean="0"/>
              <a:t>23.07.2026</a:t>
            </a:fld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</p:spPr>
        <p:txBody>
          <a:bodyPr vert="horz" lIns="91440" tIns="45720" rIns="91440" bIns="10800" rtlCol="0" anchor="b"/>
          <a:lstStyle>
            <a:lvl1pPr algn="r">
              <a:defRPr sz="2000">
                <a:solidFill>
                  <a:schemeClr val="accent1"/>
                </a:solidFill>
              </a:defRPr>
            </a:lvl1pPr>
          </a:lstStyle>
          <a:p>
            <a:fld id="{E372DB0A-8BAF-4A3B-BDC6-A2A667FA914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0433464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90" r:id="rId1"/>
    <p:sldLayoutId id="2147483691" r:id="rId2"/>
    <p:sldLayoutId id="2147483692" r:id="rId3"/>
    <p:sldLayoutId id="2147483693" r:id="rId4"/>
    <p:sldLayoutId id="2147483694" r:id="rId5"/>
    <p:sldLayoutId id="2147483695" r:id="rId6"/>
    <p:sldLayoutId id="2147483696" r:id="rId7"/>
    <p:sldLayoutId id="2147483697" r:id="rId8"/>
    <p:sldLayoutId id="2147483698" r:id="rId9"/>
    <p:sldLayoutId id="2147483699" r:id="rId10"/>
    <p:sldLayoutId id="2147483700" r:id="rId11"/>
    <p:sldLayoutId id="2147483701" r:id="rId12"/>
    <p:sldLayoutId id="2147483702" r:id="rId13"/>
    <p:sldLayoutId id="2147483703" r:id="rId14"/>
  </p:sldLayoutIdLst>
  <p:txStyles>
    <p:titleStyle>
      <a:lvl1pPr algn="l" defTabSz="457200" rtl="0" eaLnBrk="1" latinLnBrk="0" hangingPunct="1">
        <a:spcBef>
          <a:spcPct val="0"/>
        </a:spcBef>
        <a:buNone/>
        <a:defRPr sz="4000" b="1" kern="1200">
          <a:solidFill>
            <a:srgbClr val="FEFEFE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4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36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E9EC739-2BF1-9429-C3FC-869BE7B246D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sz="2400" dirty="0">
                <a:latin typeface="+mn-lt"/>
                <a:ea typeface="+mn-ea"/>
                <a:cs typeface="+mn-cs"/>
              </a:rPr>
              <a:t>Кейс 7: Консольный менеджер задач (To-Do </a:t>
            </a:r>
            <a:r>
              <a:rPr lang="ru-RU" sz="2400" dirty="0" err="1">
                <a:latin typeface="+mn-lt"/>
                <a:ea typeface="+mn-ea"/>
                <a:cs typeface="+mn-cs"/>
              </a:rPr>
              <a:t>list</a:t>
            </a:r>
            <a:r>
              <a:rPr lang="ru-RU" sz="2400" dirty="0">
                <a:latin typeface="+mn-lt"/>
                <a:ea typeface="+mn-ea"/>
                <a:cs typeface="+mn-cs"/>
              </a:rPr>
              <a:t>)</a:t>
            </a:r>
            <a:b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</a:br>
            <a:endParaRPr lang="ru-RU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E75CF5A2-C732-A0EA-A490-BB09D84E451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ru-RU" dirty="0"/>
              <a:t>Лопатин Иван Александрович</a:t>
            </a:r>
          </a:p>
          <a:p>
            <a:r>
              <a:rPr lang="ru-RU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ПР-РС-1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1100051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B77B11D-376C-BAB4-FDB8-A550111BED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Проблема и цель проекта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654719BC-9B51-D883-47D4-5D0BB4CC44C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2662248"/>
            <a:ext cx="10873154" cy="31393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Актуальность: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В повседневной рутине легко потерять фокус и забыть про дедлайны. Существующие приложения часто перегружены лишним функционалом и отвлекают от главного.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Цель: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Разработать быстрый, минималистичный и надежный консольный менеджер для упорядочивания личных дел.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Ключевые задачи:</a:t>
            </a: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Обеспечить долгосрочное хранение задач в формате JSON.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Реализовать строгую валидацию данных (проверка дат, защита от пустого ввода).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Создать удобную систему многоуровневой сортировки.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960732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E68D1A3-A6F1-963A-36DA-87407FB2A3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Реализация и стек технологий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E2B6C555-BD8F-9DBB-4278-22945AE9847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08232" y="2425249"/>
            <a:ext cx="10775535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Язык и среда: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Разработка велась на </a:t>
            </a:r>
            <a:r>
              <a:rPr kumimoji="0" lang="ru-RU" altLang="ru-RU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Python 3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в редакторе </a:t>
            </a:r>
            <a:r>
              <a:rPr kumimoji="0" lang="ru-RU" altLang="ru-RU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Visual Studio Code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Ключевые библиотеки:</a:t>
            </a: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ru-RU" altLang="ru-RU" sz="1800" i="1" u="sng" dirty="0" err="1">
                <a:latin typeface="Arial" panose="020B0604020202020204" pitchFamily="34" charset="0"/>
              </a:rPr>
              <a:t>json</a:t>
            </a:r>
            <a:r>
              <a:rPr kumimoji="0" lang="ru-RU" altLang="ru-RU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— </a:t>
            </a:r>
            <a:r>
              <a:rPr lang="ru-RU" altLang="ru-RU" sz="1800" dirty="0">
                <a:latin typeface="Arial" panose="020B0604020202020204" pitchFamily="34" charset="0"/>
              </a:rPr>
              <a:t>для автоматического сохранения и загрузки базы данных (</a:t>
            </a:r>
            <a:r>
              <a:rPr lang="ru-RU" altLang="ru-RU" sz="1800" dirty="0" err="1">
                <a:latin typeface="Arial" panose="020B0604020202020204" pitchFamily="34" charset="0"/>
              </a:rPr>
              <a:t>tasks.json</a:t>
            </a:r>
            <a:r>
              <a:rPr lang="ru-RU" altLang="ru-RU" sz="1800" dirty="0">
                <a:latin typeface="Arial" panose="020B0604020202020204" pitchFamily="34" charset="0"/>
              </a:rPr>
              <a:t>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ru-RU" altLang="ru-RU" sz="1800" i="1" u="sng" dirty="0" err="1">
                <a:latin typeface="Arial" panose="020B0604020202020204" pitchFamily="34" charset="0"/>
              </a:rPr>
              <a:t>datetime</a:t>
            </a:r>
            <a:r>
              <a:rPr kumimoji="0" lang="ru-RU" altLang="ru-RU" sz="800" i="1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ru-RU" altLang="ru-RU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— </a:t>
            </a:r>
            <a:r>
              <a:rPr lang="ru-RU" altLang="ru-RU" sz="1800" dirty="0">
                <a:latin typeface="Arial" panose="020B0604020202020204" pitchFamily="34" charset="0"/>
              </a:rPr>
              <a:t>для </a:t>
            </a:r>
            <a:r>
              <a:rPr lang="ru-RU" altLang="ru-RU" sz="1800" dirty="0" err="1">
                <a:latin typeface="Arial" panose="020B0604020202020204" pitchFamily="34" charset="0"/>
              </a:rPr>
              <a:t>парсинга</a:t>
            </a:r>
            <a:r>
              <a:rPr lang="ru-RU" altLang="ru-RU" sz="1800" dirty="0">
                <a:latin typeface="Arial" panose="020B0604020202020204" pitchFamily="34" charset="0"/>
              </a:rPr>
              <a:t> сроков, валидации форматов (ДД.ММ.ГГГГ) и блокировки прошедших дат.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lang="ru-RU" altLang="ru-RU" sz="180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ИИ-ассистенты: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В процессе разработки применялся </a:t>
            </a:r>
            <a:r>
              <a:rPr kumimoji="0" lang="ru-RU" altLang="ru-RU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GitHub</a:t>
            </a:r>
            <a:r>
              <a:rPr kumimoji="0" lang="ru-RU" altLang="ru-RU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Copilot</a:t>
            </a:r>
            <a:r>
              <a:rPr kumimoji="0" lang="ru-RU" altLang="ru-RU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Chat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для генерации логики проверок ввода, обработки исключений и помощи с написанием функций сложной сортировки.</a:t>
            </a:r>
          </a:p>
        </p:txBody>
      </p:sp>
    </p:spTree>
    <p:extLst>
      <p:ext uri="{BB962C8B-B14F-4D97-AF65-F5344CB8AC3E}">
        <p14:creationId xmlns:p14="http://schemas.microsoft.com/office/powerpoint/2010/main" val="1143819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C707A05E-BB22-DC09-783E-9653DAACA0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Демонстрация интерфейса (Скриншоты)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67C5D51C-BFEB-5017-4136-00BF900914E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ru-RU" b="1" dirty="0"/>
              <a:t>Скриншот 1:</a:t>
            </a:r>
            <a:r>
              <a:rPr lang="ru-RU" dirty="0"/>
              <a:t> Как выглядит Главное меню программы при запуске (пункты 1-6)</a:t>
            </a:r>
          </a:p>
        </p:txBody>
      </p:sp>
      <p:pic>
        <p:nvPicPr>
          <p:cNvPr id="10" name="Объект 9">
            <a:extLst>
              <a:ext uri="{FF2B5EF4-FFF2-40B4-BE49-F238E27FC236}">
                <a16:creationId xmlns:a16="http://schemas.microsoft.com/office/drawing/2014/main" id="{EB825A70-48DE-90E4-CAB1-6572DE53886B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4388" y="2897892"/>
            <a:ext cx="5189537" cy="2816404"/>
          </a:xfrm>
        </p:spPr>
      </p:pic>
      <p:sp>
        <p:nvSpPr>
          <p:cNvPr id="7" name="Текст 6">
            <a:extLst>
              <a:ext uri="{FF2B5EF4-FFF2-40B4-BE49-F238E27FC236}">
                <a16:creationId xmlns:a16="http://schemas.microsoft.com/office/drawing/2014/main" id="{F7D68F94-FFB9-EAB9-3DB6-2FB8EFA48A7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>
            <a:normAutofit fontScale="62500" lnSpcReduction="20000"/>
          </a:bodyPr>
          <a:lstStyle/>
          <a:p>
            <a:r>
              <a:rPr lang="ru-RU" b="1" dirty="0"/>
              <a:t>Скриншот 2:</a:t>
            </a:r>
            <a:r>
              <a:rPr lang="ru-RU" dirty="0"/>
              <a:t> Как выглядит вывод списка задач (пункт 2), где видно, что задачи красиво отсортированы и не сливаются в одну кучу.</a:t>
            </a:r>
          </a:p>
        </p:txBody>
      </p:sp>
      <p:pic>
        <p:nvPicPr>
          <p:cNvPr id="12" name="Объект 11">
            <a:extLst>
              <a:ext uri="{FF2B5EF4-FFF2-40B4-BE49-F238E27FC236}">
                <a16:creationId xmlns:a16="http://schemas.microsoft.com/office/drawing/2014/main" id="{FBBF627E-2BCA-6064-A0EC-CF437807A186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88075" y="2899304"/>
            <a:ext cx="5194300" cy="2813579"/>
          </a:xfrm>
        </p:spPr>
      </p:pic>
    </p:spTree>
    <p:extLst>
      <p:ext uri="{BB962C8B-B14F-4D97-AF65-F5344CB8AC3E}">
        <p14:creationId xmlns:p14="http://schemas.microsoft.com/office/powerpoint/2010/main" val="35418528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Заголовок 8">
            <a:extLst>
              <a:ext uri="{FF2B5EF4-FFF2-40B4-BE49-F238E27FC236}">
                <a16:creationId xmlns:a16="http://schemas.microsoft.com/office/drawing/2014/main" id="{33F643EC-0589-2D3F-0195-73E64A41A1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Итоги и выводы</a:t>
            </a:r>
          </a:p>
        </p:txBody>
      </p:sp>
      <p:sp>
        <p:nvSpPr>
          <p:cNvPr id="11" name="Rectangle 1">
            <a:extLst>
              <a:ext uri="{FF2B5EF4-FFF2-40B4-BE49-F238E27FC236}">
                <a16:creationId xmlns:a16="http://schemas.microsoft.com/office/drawing/2014/main" id="{5E550373-CB8B-8436-E333-889DCE9D197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2570134"/>
            <a:ext cx="10226040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Успешная реализация: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Все требования технического задания выполнены в полном объеме.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Стабильность и надежность: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Программа работает быстро и без сбоев.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Защита от сбоев: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Настроена полная защита от пользовательских ошибок — программа не "падает" при неверном вводе дат, букв вместо цифр или попытке удалить несуществующую задачу.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Результат: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Готовый к повседневному использованию программный продукт.</a:t>
            </a:r>
          </a:p>
        </p:txBody>
      </p:sp>
    </p:spTree>
    <p:extLst>
      <p:ext uri="{BB962C8B-B14F-4D97-AF65-F5344CB8AC3E}">
        <p14:creationId xmlns:p14="http://schemas.microsoft.com/office/powerpoint/2010/main" val="125178987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Цитаты">
  <a:themeElements>
    <a:clrScheme name="Цитаты">
      <a:dk1>
        <a:sysClr val="windowText" lastClr="000000"/>
      </a:dk1>
      <a:lt1>
        <a:sysClr val="window" lastClr="FFFFFF"/>
      </a:lt1>
      <a:dk2>
        <a:srgbClr val="212121"/>
      </a:dk2>
      <a:lt2>
        <a:srgbClr val="636363"/>
      </a:lt2>
      <a:accent1>
        <a:srgbClr val="00C6BB"/>
      </a:accent1>
      <a:accent2>
        <a:srgbClr val="6FEBA0"/>
      </a:accent2>
      <a:accent3>
        <a:srgbClr val="B6DF5E"/>
      </a:accent3>
      <a:accent4>
        <a:srgbClr val="EFB251"/>
      </a:accent4>
      <a:accent5>
        <a:srgbClr val="EF755F"/>
      </a:accent5>
      <a:accent6>
        <a:srgbClr val="ED515C"/>
      </a:accent6>
      <a:hlink>
        <a:srgbClr val="8F8F8F"/>
      </a:hlink>
      <a:folHlink>
        <a:srgbClr val="A5A5A5"/>
      </a:folHlink>
    </a:clrScheme>
    <a:fontScheme name="Цитаты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Цитаты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lumMod val="105000"/>
              </a:schemeClr>
            </a:gs>
            <a:gs pos="100000">
              <a:schemeClr val="phClr">
                <a:tint val="9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98000"/>
                <a:lumMod val="102000"/>
              </a:schemeClr>
              <a:schemeClr val="phClr">
                <a:shade val="98000"/>
                <a:lumMod val="98000"/>
              </a:schemeClr>
            </a:duotone>
          </a:blip>
          <a:tile tx="0" ty="0" sx="100000" sy="100000" flip="none" algn="tl"/>
        </a:blipFill>
      </a:fillStyleLst>
      <a:lnStyleLst>
        <a:ln w="9525" cap="rnd" cmpd="sng" algn="ctr">
          <a:solidFill>
            <a:schemeClr val="phClr"/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innerShdw blurRad="63500" dist="25400" dir="13500000">
              <a:srgbClr val="000000">
                <a:alpha val="75000"/>
              </a:srgbClr>
            </a:inn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</a:schemeClr>
            </a:gs>
            <a:gs pos="100000">
              <a:schemeClr val="phClr">
                <a:tint val="84000"/>
                <a:shade val="84000"/>
                <a:lumMod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90000"/>
                <a:satMod val="120000"/>
                <a:lumMod val="90000"/>
              </a:schemeClr>
            </a:gs>
            <a:gs pos="100000">
              <a:schemeClr val="phClr"/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Quotable" id="{39EC5628-30ED-4578-ACD8-9820EDB8E15A}" vid="{6F3559E9-1A4C-49D8-94D4-F41003531C4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TM03457503[[fn=Цитаты]]</Template>
  <TotalTime>3</TotalTime>
  <Words>279</Words>
  <Application>Microsoft Office PowerPoint</Application>
  <PresentationFormat>Широкоэкранный</PresentationFormat>
  <Paragraphs>31</Paragraphs>
  <Slides>5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5</vt:i4>
      </vt:variant>
    </vt:vector>
  </HeadingPairs>
  <TitlesOfParts>
    <vt:vector size="10" baseType="lpstr">
      <vt:lpstr>Arial</vt:lpstr>
      <vt:lpstr>Century Gothic</vt:lpstr>
      <vt:lpstr>Times New Roman</vt:lpstr>
      <vt:lpstr>Wingdings 2</vt:lpstr>
      <vt:lpstr>Цитаты</vt:lpstr>
      <vt:lpstr>Кейс 7: Консольный менеджер задач (To-Do list) </vt:lpstr>
      <vt:lpstr>Проблема и цель проекта</vt:lpstr>
      <vt:lpstr>Реализация и стек технологий</vt:lpstr>
      <vt:lpstr>Демонстрация интерфейса (Скриншоты)</vt:lpstr>
      <vt:lpstr>Итоги и выводы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Vanyusha</dc:creator>
  <cp:lastModifiedBy>Vanyusha</cp:lastModifiedBy>
  <cp:revision>1</cp:revision>
  <dcterms:created xsi:type="dcterms:W3CDTF">2026-07-23T07:23:21Z</dcterms:created>
  <dcterms:modified xsi:type="dcterms:W3CDTF">2026-07-23T07:26:47Z</dcterms:modified>
</cp:coreProperties>
</file>